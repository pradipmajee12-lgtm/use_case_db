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38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43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2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51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46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32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998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99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4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01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468F0-5FA9-423A-BA46-1416A37BBD7E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8542A-2A9D-41EA-8723-F5114D285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0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7346" y="1028700"/>
            <a:ext cx="1330891" cy="50126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28700" y="1310054"/>
            <a:ext cx="94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Source system</a:t>
            </a:r>
            <a:endParaRPr lang="en-IN" sz="1200" dirty="0"/>
          </a:p>
        </p:txBody>
      </p:sp>
      <p:pic>
        <p:nvPicPr>
          <p:cNvPr id="1026" name="Picture 2" descr="12,304 Data Source Icon Stock Vectors and Vector Art | Shutter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40" y="2391509"/>
            <a:ext cx="899502" cy="89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81+ Thousand Data Generation Icon Royalty-Free Images, Stock Photos &amp;  Pictures | Shutterstoc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40" y="3836135"/>
            <a:ext cx="899503" cy="90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279599" y="1028700"/>
            <a:ext cx="184638" cy="501268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2934078" y="1022596"/>
            <a:ext cx="184638" cy="501268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2572988" y="1022596"/>
            <a:ext cx="184638" cy="5012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 rot="5400000">
            <a:off x="1891831" y="2749930"/>
            <a:ext cx="996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Firewall</a:t>
            </a:r>
            <a:endParaRPr lang="en-IN" sz="1000" dirty="0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966797" y="2787889"/>
            <a:ext cx="1429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Cloud Interconnect</a:t>
            </a:r>
            <a:endParaRPr lang="en-IN" sz="1000" dirty="0"/>
          </a:p>
        </p:txBody>
      </p:sp>
      <p:sp>
        <p:nvSpPr>
          <p:cNvPr id="13" name="TextBox 12"/>
          <p:cNvSpPr txBox="1"/>
          <p:nvPr/>
        </p:nvSpPr>
        <p:spPr>
          <a:xfrm rot="5400000">
            <a:off x="2538327" y="2749931"/>
            <a:ext cx="996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Firewall</a:t>
            </a:r>
            <a:endParaRPr lang="en-IN" sz="1000" dirty="0"/>
          </a:p>
        </p:txBody>
      </p:sp>
      <p:sp>
        <p:nvSpPr>
          <p:cNvPr id="8" name="Rectangle 7"/>
          <p:cNvSpPr/>
          <p:nvPr/>
        </p:nvSpPr>
        <p:spPr>
          <a:xfrm>
            <a:off x="3374296" y="985806"/>
            <a:ext cx="6743700" cy="50792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9212" y="129133"/>
            <a:ext cx="567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Real-Time Trade Event Streaming &amp; Analytics Architecture</a:t>
            </a:r>
            <a:endParaRPr lang="en-IN" dirty="0"/>
          </a:p>
        </p:txBody>
      </p:sp>
      <p:pic>
        <p:nvPicPr>
          <p:cNvPr id="1034" name="Picture 10" descr="Google Pub/Sub in Google Cloud Platform | Solace Integration Hub | Sola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914" y="2443054"/>
            <a:ext cx="1145687" cy="114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5235773" y="781402"/>
            <a:ext cx="279595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Google Cloud environment</a:t>
            </a:r>
            <a:endParaRPr lang="en-IN" dirty="0"/>
          </a:p>
        </p:txBody>
      </p:sp>
      <p:pic>
        <p:nvPicPr>
          <p:cNvPr id="1038" name="Picture 14" descr="Understanding Google Cloud Dataflow: Transforming Data Challenges into  Opportunities | by Virinchi T | Fournine Clou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809" y="2443054"/>
            <a:ext cx="1372818" cy="1086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7978396" y="2024859"/>
            <a:ext cx="1722908" cy="21334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18" descr="Google BigQuery: A Tutorial for Marketers | CXL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307" y="2086207"/>
            <a:ext cx="954623" cy="69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8031726" y="2985857"/>
            <a:ext cx="1612943" cy="2308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900" b="1" dirty="0" err="1" smtClean="0">
                <a:solidFill>
                  <a:schemeClr val="bg1"/>
                </a:solidFill>
              </a:rPr>
              <a:t>trade_event.trade_landing</a:t>
            </a:r>
            <a:endParaRPr lang="en-IN" sz="900" b="1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33378" y="3267459"/>
            <a:ext cx="1612943" cy="2308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trade_event.trade_rejected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31726" y="3562229"/>
            <a:ext cx="1612943" cy="2308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trade_event.trade_current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31726" y="3856999"/>
            <a:ext cx="1612943" cy="2308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 err="1">
                <a:solidFill>
                  <a:schemeClr val="bg1"/>
                </a:solidFill>
              </a:rPr>
              <a:t>trade_event.trade_history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46684" y="4345189"/>
            <a:ext cx="3464169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1200" dirty="0" smtClean="0"/>
              <a:t>Orchestration</a:t>
            </a:r>
            <a:r>
              <a:rPr lang="en-US" dirty="0" smtClean="0"/>
              <a:t>  </a:t>
            </a:r>
          </a:p>
          <a:p>
            <a:endParaRPr lang="en-IN" dirty="0"/>
          </a:p>
        </p:txBody>
      </p:sp>
      <p:pic>
        <p:nvPicPr>
          <p:cNvPr id="48" name="Picture 26" descr="GCP Cloud Composer for Workflow Orchestration services in bangalore |  Google Cloud Service Providers in Bangalore | powerful Google Cloud  Consultants in Bengaluru - 2023 Review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809" y="4397400"/>
            <a:ext cx="1586816" cy="68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Elbow Connector 26"/>
          <p:cNvCxnSpPr>
            <a:stCxn id="4" idx="3"/>
            <a:endCxn id="1034" idx="1"/>
          </p:cNvCxnSpPr>
          <p:nvPr/>
        </p:nvCxnSpPr>
        <p:spPr>
          <a:xfrm flipV="1">
            <a:off x="2078237" y="3015898"/>
            <a:ext cx="2002677" cy="519145"/>
          </a:xfrm>
          <a:prstGeom prst="bentConnector3">
            <a:avLst>
              <a:gd name="adj1" fmla="val 728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34" idx="3"/>
          </p:cNvCxnSpPr>
          <p:nvPr/>
        </p:nvCxnSpPr>
        <p:spPr>
          <a:xfrm flipV="1">
            <a:off x="5226601" y="3015897"/>
            <a:ext cx="70820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1038" idx="3"/>
            <a:endCxn id="41" idx="1"/>
          </p:cNvCxnSpPr>
          <p:nvPr/>
        </p:nvCxnSpPr>
        <p:spPr>
          <a:xfrm>
            <a:off x="7307627" y="2986243"/>
            <a:ext cx="725751" cy="3966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1" idx="1"/>
          </p:cNvCxnSpPr>
          <p:nvPr/>
        </p:nvCxnSpPr>
        <p:spPr>
          <a:xfrm>
            <a:off x="7670502" y="3101273"/>
            <a:ext cx="361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23" idx="0"/>
          </p:cNvCxnSpPr>
          <p:nvPr/>
        </p:nvCxnSpPr>
        <p:spPr>
          <a:xfrm rot="5400000" flipH="1" flipV="1">
            <a:off x="5843205" y="3664503"/>
            <a:ext cx="816251" cy="5451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endCxn id="42" idx="1"/>
          </p:cNvCxnSpPr>
          <p:nvPr/>
        </p:nvCxnSpPr>
        <p:spPr>
          <a:xfrm flipV="1">
            <a:off x="6523892" y="3677645"/>
            <a:ext cx="1507834" cy="2594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endCxn id="43" idx="1"/>
          </p:cNvCxnSpPr>
          <p:nvPr/>
        </p:nvCxnSpPr>
        <p:spPr>
          <a:xfrm>
            <a:off x="7605346" y="3677645"/>
            <a:ext cx="426380" cy="2947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3552092" y="2655277"/>
            <a:ext cx="175846" cy="18598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1</a:t>
            </a:r>
            <a:endParaRPr lang="en-IN" sz="1000" dirty="0"/>
          </a:p>
        </p:txBody>
      </p:sp>
      <p:sp>
        <p:nvSpPr>
          <p:cNvPr id="72" name="Oval 71"/>
          <p:cNvSpPr/>
          <p:nvPr/>
        </p:nvSpPr>
        <p:spPr>
          <a:xfrm>
            <a:off x="6307193" y="3579205"/>
            <a:ext cx="175846" cy="18598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2</a:t>
            </a:r>
            <a:endParaRPr lang="en-IN" sz="1000" dirty="0"/>
          </a:p>
        </p:txBody>
      </p:sp>
      <p:sp>
        <p:nvSpPr>
          <p:cNvPr id="73" name="Oval 72"/>
          <p:cNvSpPr/>
          <p:nvPr/>
        </p:nvSpPr>
        <p:spPr>
          <a:xfrm>
            <a:off x="7374595" y="2762644"/>
            <a:ext cx="175846" cy="18598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3</a:t>
            </a:r>
            <a:endParaRPr lang="en-IN" sz="1000" dirty="0"/>
          </a:p>
        </p:txBody>
      </p:sp>
      <p:sp>
        <p:nvSpPr>
          <p:cNvPr id="75" name="Oval 74"/>
          <p:cNvSpPr/>
          <p:nvPr/>
        </p:nvSpPr>
        <p:spPr>
          <a:xfrm>
            <a:off x="7018815" y="3682606"/>
            <a:ext cx="175846" cy="18598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4</a:t>
            </a:r>
            <a:endParaRPr lang="en-IN" sz="1000" dirty="0"/>
          </a:p>
        </p:txBody>
      </p:sp>
      <p:sp>
        <p:nvSpPr>
          <p:cNvPr id="59" name="Rectangle 58"/>
          <p:cNvSpPr/>
          <p:nvPr/>
        </p:nvSpPr>
        <p:spPr>
          <a:xfrm>
            <a:off x="10600178" y="1934380"/>
            <a:ext cx="917268" cy="25646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10735764" y="1934380"/>
            <a:ext cx="646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Analytic tool</a:t>
            </a:r>
            <a:endParaRPr lang="en-IN" sz="900" dirty="0"/>
          </a:p>
        </p:txBody>
      </p:sp>
      <p:sp>
        <p:nvSpPr>
          <p:cNvPr id="61" name="AutoShape 28" descr="Power BI - Mage A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58" name="Picture 34" descr="Power BIの学び-真似することから始めてみる - 業務ハックLab -とある元情シスの備忘録-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092" y="2538284"/>
            <a:ext cx="410343" cy="41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Qlik Sense - Features, Reviews &amp; Pricing (February 2026)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764" y="3182920"/>
            <a:ext cx="550989" cy="55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Looker Reviews 2026: Details, Pricing, &amp; Features | G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0273" y="3887887"/>
            <a:ext cx="557076" cy="5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Straight Arrow Connector 63"/>
          <p:cNvCxnSpPr>
            <a:stCxn id="41" idx="3"/>
          </p:cNvCxnSpPr>
          <p:nvPr/>
        </p:nvCxnSpPr>
        <p:spPr>
          <a:xfrm flipV="1">
            <a:off x="9646321" y="3371412"/>
            <a:ext cx="953857" cy="11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42" idx="3"/>
          </p:cNvCxnSpPr>
          <p:nvPr/>
        </p:nvCxnSpPr>
        <p:spPr>
          <a:xfrm flipV="1">
            <a:off x="9644669" y="3672196"/>
            <a:ext cx="955509" cy="5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43" idx="3"/>
          </p:cNvCxnSpPr>
          <p:nvPr/>
        </p:nvCxnSpPr>
        <p:spPr>
          <a:xfrm>
            <a:off x="9644669" y="3972415"/>
            <a:ext cx="955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787280" y="3100917"/>
            <a:ext cx="715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Outbound</a:t>
            </a:r>
            <a:endParaRPr lang="en-IN" sz="1000" dirty="0"/>
          </a:p>
        </p:txBody>
      </p:sp>
      <p:sp>
        <p:nvSpPr>
          <p:cNvPr id="94" name="Oval 93"/>
          <p:cNvSpPr/>
          <p:nvPr/>
        </p:nvSpPr>
        <p:spPr>
          <a:xfrm>
            <a:off x="10219769" y="2944615"/>
            <a:ext cx="175846" cy="18598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5</a:t>
            </a:r>
            <a:endParaRPr lang="en-IN" sz="1000" dirty="0"/>
          </a:p>
        </p:txBody>
      </p:sp>
      <p:sp>
        <p:nvSpPr>
          <p:cNvPr id="77" name="Rectangle 76"/>
          <p:cNvSpPr/>
          <p:nvPr/>
        </p:nvSpPr>
        <p:spPr>
          <a:xfrm>
            <a:off x="4063607" y="5364941"/>
            <a:ext cx="4543865" cy="6585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/>
          <p:cNvSpPr txBox="1"/>
          <p:nvPr/>
        </p:nvSpPr>
        <p:spPr>
          <a:xfrm>
            <a:off x="5113898" y="5323039"/>
            <a:ext cx="3785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Logging ,Monitoring &amp; Security</a:t>
            </a:r>
            <a:endParaRPr lang="en-IN" sz="1000" dirty="0"/>
          </a:p>
        </p:txBody>
      </p:sp>
      <p:pic>
        <p:nvPicPr>
          <p:cNvPr id="1068" name="Picture 44" descr="Google Cloud Monitoring and Logging: Unlocking Cloud Operational Insights -  AVANGELS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684" y="5558553"/>
            <a:ext cx="747882" cy="39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 descr="Google Cloud Monitoring | Google Cloud Platform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601" y="5611162"/>
            <a:ext cx="465283" cy="31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GCP - Using KMS to manage secrets :: Prakhar Srivastav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998" y="5548960"/>
            <a:ext cx="1009629" cy="37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A Complete Guide to Google Cloud IAM: Managing Access &amp; Security | by Ben  Baiju | Technology Hits | Medium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346" y="5407104"/>
            <a:ext cx="598600" cy="567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/>
          <p:cNvSpPr/>
          <p:nvPr/>
        </p:nvSpPr>
        <p:spPr>
          <a:xfrm>
            <a:off x="13339936" y="5336206"/>
            <a:ext cx="45719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623396" y="4721270"/>
            <a:ext cx="944880" cy="1323439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CICD</a:t>
            </a:r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pPr algn="ctr"/>
            <a:endParaRPr lang="en-US" sz="1000" dirty="0"/>
          </a:p>
          <a:p>
            <a:pPr algn="ctr"/>
            <a:endParaRPr lang="en-US" sz="1000" dirty="0" smtClean="0"/>
          </a:p>
          <a:p>
            <a:pPr algn="ctr"/>
            <a:endParaRPr lang="en-IN" sz="1000" dirty="0"/>
          </a:p>
        </p:txBody>
      </p:sp>
      <p:pic>
        <p:nvPicPr>
          <p:cNvPr id="1082" name="Picture 58" descr="Top CI/CD Tools for DevOps Success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330" y="4997181"/>
            <a:ext cx="559107" cy="12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60" descr="GitHub Logo and symbol, meaning, history, PNG, brand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464" y="5268089"/>
            <a:ext cx="432871" cy="2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 descr="Jenkins installation for Windows 10 (Alongside: Complete guide on local  user creation) - Devonblo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6094" y="5660728"/>
            <a:ext cx="697279" cy="3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Rectangle 80"/>
          <p:cNvSpPr/>
          <p:nvPr/>
        </p:nvSpPr>
        <p:spPr>
          <a:xfrm>
            <a:off x="9010379" y="6190140"/>
            <a:ext cx="2596839" cy="588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88" name="Picture 64" descr="Dataplex — An intelligent Data Fabric | Data Governance at Scale| Google  Cloud | Part — 1 | Overview | by Nishit Kamdar | Google Cloud - Community |  Medium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518" y="6272121"/>
            <a:ext cx="668786" cy="50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/>
          <p:cNvSpPr txBox="1"/>
          <p:nvPr/>
        </p:nvSpPr>
        <p:spPr>
          <a:xfrm>
            <a:off x="9503472" y="6190140"/>
            <a:ext cx="1731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Catalog &amp; Data governance</a:t>
            </a:r>
            <a:endParaRPr lang="en-IN" sz="1000" dirty="0"/>
          </a:p>
        </p:txBody>
      </p:sp>
      <p:pic>
        <p:nvPicPr>
          <p:cNvPr id="1092" name="Picture 68" descr="Collibra Wins Google Cloud Data &amp; Analytics 2025 Partner of the Year Award  for Governance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157" y="6415064"/>
            <a:ext cx="618915" cy="32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/>
          <p:cNvSpPr txBox="1"/>
          <p:nvPr/>
        </p:nvSpPr>
        <p:spPr>
          <a:xfrm>
            <a:off x="3569319" y="3060178"/>
            <a:ext cx="556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Publish message</a:t>
            </a:r>
            <a:endParaRPr lang="en-IN" sz="800" dirty="0"/>
          </a:p>
        </p:txBody>
      </p:sp>
      <p:sp>
        <p:nvSpPr>
          <p:cNvPr id="116" name="TextBox 115"/>
          <p:cNvSpPr txBox="1"/>
          <p:nvPr/>
        </p:nvSpPr>
        <p:spPr>
          <a:xfrm>
            <a:off x="5311534" y="3032858"/>
            <a:ext cx="600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Subscribe message</a:t>
            </a:r>
            <a:endParaRPr lang="en-IN" sz="800" dirty="0"/>
          </a:p>
        </p:txBody>
      </p:sp>
      <p:sp>
        <p:nvSpPr>
          <p:cNvPr id="84" name="TextBox 83"/>
          <p:cNvSpPr txBox="1"/>
          <p:nvPr/>
        </p:nvSpPr>
        <p:spPr>
          <a:xfrm>
            <a:off x="4852489" y="3717308"/>
            <a:ext cx="1604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Start Dataflow job  &amp; process data</a:t>
            </a:r>
            <a:endParaRPr lang="en-IN" sz="800" dirty="0"/>
          </a:p>
        </p:txBody>
      </p:sp>
      <p:sp>
        <p:nvSpPr>
          <p:cNvPr id="85" name="TextBox 84"/>
          <p:cNvSpPr txBox="1"/>
          <p:nvPr/>
        </p:nvSpPr>
        <p:spPr>
          <a:xfrm>
            <a:off x="7262736" y="2998767"/>
            <a:ext cx="42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Write to BQ</a:t>
            </a:r>
            <a:endParaRPr lang="en-IN" sz="800" dirty="0"/>
          </a:p>
        </p:txBody>
      </p:sp>
      <p:sp>
        <p:nvSpPr>
          <p:cNvPr id="86" name="TextBox 85"/>
          <p:cNvSpPr txBox="1"/>
          <p:nvPr/>
        </p:nvSpPr>
        <p:spPr>
          <a:xfrm>
            <a:off x="6536457" y="3933202"/>
            <a:ext cx="15214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Data enrichment &amp; aggregation</a:t>
            </a:r>
            <a:endParaRPr lang="en-IN" sz="800" dirty="0"/>
          </a:p>
        </p:txBody>
      </p:sp>
      <p:sp>
        <p:nvSpPr>
          <p:cNvPr id="87" name="TextBox 86"/>
          <p:cNvSpPr txBox="1"/>
          <p:nvPr/>
        </p:nvSpPr>
        <p:spPr>
          <a:xfrm>
            <a:off x="747346" y="6137787"/>
            <a:ext cx="7939454" cy="70788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800" dirty="0" smtClean="0"/>
              <a:t>Trade events are streamed from source systems into Pub/Sub.</a:t>
            </a:r>
          </a:p>
          <a:p>
            <a:pPr marL="342900" indent="-342900">
              <a:buAutoNum type="arabicPeriod"/>
            </a:pPr>
            <a:r>
              <a:rPr lang="en-US" sz="800" dirty="0" smtClean="0"/>
              <a:t>A scheduled orchestration workflow triggers a Dataflow pipeline every 5 minutes.</a:t>
            </a:r>
          </a:p>
          <a:p>
            <a:pPr marL="342900" indent="-342900">
              <a:buAutoNum type="arabicPeriod"/>
            </a:pPr>
            <a:r>
              <a:rPr lang="en-US" sz="800" dirty="0" smtClean="0"/>
              <a:t>The pipeline processes, validates, and loads data into </a:t>
            </a:r>
            <a:r>
              <a:rPr lang="en-US" sz="800" dirty="0" err="1" smtClean="0"/>
              <a:t>BigQuery</a:t>
            </a:r>
            <a:r>
              <a:rPr lang="en-US" sz="800" dirty="0" smtClean="0"/>
              <a:t> (landing and reject tables).</a:t>
            </a:r>
          </a:p>
          <a:p>
            <a:pPr marL="342900" indent="-342900">
              <a:buAutoNum type="arabicPeriod"/>
            </a:pPr>
            <a:r>
              <a:rPr lang="en-US" sz="800" dirty="0" smtClean="0"/>
              <a:t>Post-ingestion, enrichment and aggregation logic is executed in </a:t>
            </a:r>
            <a:r>
              <a:rPr lang="en-US" sz="800" dirty="0" err="1" smtClean="0"/>
              <a:t>BigQuery</a:t>
            </a:r>
            <a:r>
              <a:rPr lang="en-US" sz="8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sz="800" dirty="0" smtClean="0"/>
              <a:t>Curated data is instantly available for real-time dashboards and reporting.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68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117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15</cp:revision>
  <dcterms:created xsi:type="dcterms:W3CDTF">2026-02-11T06:06:34Z</dcterms:created>
  <dcterms:modified xsi:type="dcterms:W3CDTF">2026-02-11T08:10:35Z</dcterms:modified>
</cp:coreProperties>
</file>